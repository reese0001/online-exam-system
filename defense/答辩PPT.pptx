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57200"/>
            <a:ext cx="2286000" cy="2286000"/>
          </a:xfrm>
          <a:prstGeom prst="ellipse">
            <a:avLst/>
          </a:prstGeom>
          <a:solidFill>
            <a:srgbClr val="2E8B8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731520" y="4572000"/>
            <a:ext cx="2011680" cy="2011680"/>
          </a:xfrm>
          <a:prstGeom prst="ellipse">
            <a:avLst/>
          </a:prstGeom>
          <a:solidFill>
            <a:srgbClr val="2E8B8B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在线考试系统的设计与实现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 毕业设计答辩 ——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0" y="402336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答辩人：[学生姓名]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443484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　号：[学号]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484632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指导教师：[指导教师姓名]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525780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答辩日期：2026 年 10 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研究背景与意义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2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传统纸质考试的局限性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命题→印卷→分发→收卷→阅卷→登分→统计 全流程耗费人力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阅卷周期长（天级），成绩统计易出错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防作弊手段有限，公平性难以保障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E8F8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在线考试的五大优势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大幅缩短考试组织周期，教师在线命题组卷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20391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客观题自动阅卷，阅卷时间从天级压缩至秒级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38658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电子化答卷便于成绩统计分析与数据挖掘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273405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切屏检测、禁止复制粘贴等防作弊手段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3081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题库资源积累与复用，降低命题成本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本系统定位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面向小规模（≤100 人并发）教育与培训场景，研发一个轻量级、易部署、流程完整、可二次开发的在线考试系统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97280" y="512064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2E8B8B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120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轻量级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0" y="512064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2E8B8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5120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易部署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46720" y="512064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2E8B8B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5120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全流程闭环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国内外研究现状与对比分析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3 / 15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9377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不足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超星学习通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功能全面，大规模并发，移动端好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部署重，定制化差，数据归属不清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Moodle Quiz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开源免费，插件生态好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中文体验差，组卷统计弱，运维门槛高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智考网/考试酷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题库丰富，组卷灵活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广告多，二次开发困难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校内自研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贴合本校流程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单点功能，缺乏全流程闭环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06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DF2E9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⚡ 两极分化问题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7091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商业平台：功能全但部署重、定制化差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自研系统：轻量但功能单薄、缺全流程闭环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4206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8F8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本系统平衡定位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0" y="47091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功能完整性 ↔ 轻量易部署 取得平衡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全中文界面 + Ant Design 开箱即用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单机部署，便于二次开发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系统目标与功能概述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系统目标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E8F4F8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人以下并发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E8F4F8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响应时间 &lt; 2s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E8F4F8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可用性 &gt; 99%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50876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E8F4F8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自动阅卷准确率 100%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三类角色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🔧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用户管理、班级管理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系统配置、日志查看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26517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25400">
            <a:solidFill>
              <a:srgbClr val="2E8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📚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02920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　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题库管理、试卷组卷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考试发布、阅卷、成绩统计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26517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✍️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77824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　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在线答题、个人成绩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答题详情、错题统计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四大核心模块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97280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题库管理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" y="5166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C4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5种题型 + Excel导入导出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83280" y="4617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931920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在线答题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566160" y="5166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C4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计时 + 防作弊 + 断网续答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4617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766560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阅　卷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400800" y="5166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C4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客观自动 + 主观手动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52560" y="4617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601200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成绩统计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235440" y="5166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C4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分布统计 + 可视化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需求规模：54 条功能需求 + 22 条非功能需求 + 45 个用例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技术选型与选型理由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5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前端技术栈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React 18：组件化 + 虚拟DOM + Hooks并发渲染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React Router 6：嵌套路由 + 懒加载 + 路由守卫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Zustand 4：轻量无样板，替代Redux降低心智负担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Ant Design 5：企业级组件库，Table/Form/Upload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Vite 5：ESM极速冷启动 + HMR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Axios：拦截器统一处理JWT注入与错误码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后端技术栈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16459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Node.js 18 LTS：非阻塞I/O，契合并发答题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19659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Express 4：轻量灵活，中间件生态丰富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286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Sequelize 6 ORM：参数化查询防SQL注入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6060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　模型关联 + 事务 + 软删除(paranoid)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926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jwt：无状态认证，有效期2h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246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bcrypt：加盐哈希抗彩虹表(saltRounds=10)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数据与安全 + 选型对比亮点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846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utf8mb4支持中文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InnoDB事务+行级锁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Zustand vs Redux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4846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无样板代码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getState()非组件访问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Node.js vs Java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4846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前后端同语言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非阻塞I/O契合并发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5256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Sequelize vs 原生SQL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52560" y="4846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参数化防注入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模型关联可读性高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6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8686800" cy="777240"/>
          </a:xfrm>
          <a:prstGeom prst="roundRect">
            <a:avLst>
              <a:gd name="adj" fmla="val 7059"/>
            </a:avLst>
          </a:prstGeom>
          <a:solidFill>
            <a:srgbClr val="2E8B8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161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客户端层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21615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18 SPA · React Router 6 · Zustand · Ant Design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8928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8686800" cy="777240"/>
          </a:xfrm>
          <a:prstGeom prst="roundRect">
            <a:avLst>
              <a:gd name="adj" fmla="val 7059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305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API网关层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13055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CORS  ② 日志  ③ JWT认证  ④ RBAC权限  ⑤ 参数校验  ⑥ 错误处理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28072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8686800" cy="777240"/>
          </a:xfrm>
          <a:prstGeom prst="roundRect">
            <a:avLst>
              <a:gd name="adj" fmla="val 7059"/>
            </a:avLst>
          </a:prstGeom>
          <a:solidFill>
            <a:srgbClr val="2E8B8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44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业务服务层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304495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Controllers + Services · 用户·题库·试卷·考试·答题·阅卷·成绩 七大模块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37216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8686800" cy="777240"/>
          </a:xfrm>
          <a:prstGeom prst="roundRect">
            <a:avLst>
              <a:gd name="adj" fmla="val 7059"/>
            </a:avLst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593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数据访问层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395935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Sequelize Models · User·Class·Question·Paper·Exam·ExamRecord·Answer 等11个模型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46360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8686800" cy="777240"/>
          </a:xfrm>
          <a:prstGeom prst="roundRect">
            <a:avLst>
              <a:gd name="adj" fmla="val 7059"/>
            </a:avLst>
          </a:prstGeom>
          <a:solidFill>
            <a:srgbClr val="2E8B8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8737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存储层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487375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8.0 (业务数据) · 本地文件存储 (上传/导出)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09760" y="1143000"/>
            <a:ext cx="2103120" cy="502920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架构特点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264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B/S 架构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9264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前后端分离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9264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四层分层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9264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RESTful API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9264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单体应用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9264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中间件链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9264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共享连接池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单体应用决策：毕设规模 ≤100 并发，不做微服务拆分，避免分布式复杂度 ｜ 后端 46 文件 + 前端 41 文件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7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个核心实体 · 12 张表 · 16 个一对多 + 2 个多对多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6400800" cy="384048"/>
          </a:xfrm>
          <a:prstGeom prst="roundRect">
            <a:avLst>
              <a:gd name="adj" fmla="val 7143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 用户 · Class 班级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64008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1168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Question 题目 · Paper 试卷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6400800" cy="384048"/>
          </a:xfrm>
          <a:prstGeom prst="roundRect">
            <a:avLst>
              <a:gd name="adj" fmla="val 7143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6888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PaperQuestion 试卷题目关联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64008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2608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Exam 考试 · ExamClass 考试班级关联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6400800" cy="384048"/>
          </a:xfrm>
          <a:prstGeom prst="roundRect">
            <a:avLst>
              <a:gd name="adj" fmla="val 7143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8328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ExamRecord 考试记录 · Answer 答题记录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64008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4048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GradeTask 阅卷任务 · SysConfig 系统配置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关键关系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试卷 N—M 题目（paper_questions，含分值与排序）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166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考试 N—M 班级（exam_classes，指定参考范围）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考试 1—N 考试记录 1—N 答题记录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1097280"/>
            <a:ext cx="4297680" cy="5212080"/>
          </a:xfrm>
          <a:prstGeom prst="roundRect">
            <a:avLst>
              <a:gd name="adj" fmla="val 2128"/>
            </a:avLst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索引与设计策略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98080" y="1783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唯一索引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2057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users.username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classes.name 防重复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联合索引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0" y="2926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questions(type, difficulty,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knowledge_point) 支撑题库筛选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3520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联合唯一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3794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exam_records(exam_id, student_id)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防重复答卷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联合唯一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4663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answers(exam_record_id,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question_id) 防重复作答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5257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软删除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0" y="5532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questions/papers/exams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deleted_at 避免引用断裂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核心功能实现（一）— 题库管理与组卷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8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📚 题库管理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5种题型统一存储：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75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type枚举(single/multiple/judge/fill/short)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597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options存JSON，answer存标准答案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8437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答案编码规范：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227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单选/判断：选项标识(A/true)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多选：逗号集合(A,B,C)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995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填空：双竖线分隔多空(ans1||ans2)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3799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多维筛选：题型/难度/知识点/关键字+分页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7640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(type,difficulty,knowledge_point)联合索引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51480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Excel批量导入导出：exceljs解析校验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删除引用校验：被试卷引用禁止删除(错误码2001)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14300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234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📝 组卷功能（核心算法）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1737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手动组卷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教师逐题选择，设定分值与排序，upsert语义支持分值更新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随机组卷算法（5步）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2971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遍历组卷规则(题型/知识点/难度/数量/分值)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3375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按条件筛选候选题目，校验题库是否充足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7033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Math.random()随机排序后截取所需数量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40690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累加总分，写入paper_questions关联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4434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数据库事务保证原子性，失败回滚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502920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2E8B8B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5074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技术亮点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5349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事务保证组卷原子性，题库不足时友好提示，支持多条规则组合满足差异化命题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核心功能实现（二）— 在线答题与防作弊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9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7FAFC"/>
          </a:solidFill>
          <a:ln w="25400">
            <a:solidFill>
              <a:srgbClr val="2E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💾 答案暂存与断网续答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examStore(Zustand) setAnswer时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同步写入localStorage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initExam时从localStorage恢复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定时器每30秒批量同步服务端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节流函数(2秒)即时同步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网络失败静默重试，答案不丢失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114300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7FAF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🛡️ 防作弊机制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切屏检测：visibilitychange事件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记录切屏次数，超阈值警告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超MAX_SWITCH_COUNT自动交卷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禁止复制粘贴：拦截copy/paste/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　cut/contextmenu事件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beforeunload离开前提示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114300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7FAFC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⏱️ 倒计时与自动交卷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setInterval每秒tick递减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剩余5分钟：黄色警告样式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剩余1分钟：红色危险样式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时间为0：自动调用交卷接口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未答题目：Modal二次确认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满足NFR-14自动交卷需求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532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🔒 进入考试多重校验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852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考试状态(已发布/进行中) + 时间窗口 + 学生归属班级 + 未已交卷  →  任一失败返回业务错误码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核心功能实现（三）— 阅卷与成绩统计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10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📋 阅卷模块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客观题自动阅卷（交卷触发）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4种客观题型：single/multiple/judge/fill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3591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compareAnswer按题型差异化比对：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066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单选/判断：完全匹配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054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多选：集合相等(忽略顺序)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401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填空：多空匹配(||分隔，去空格)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事务逐条更新score/is_correct/graded_by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0965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全对满分，错误0分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主观题手动阅卷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short简答题教师逐题评分+评语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自动生成阅卷任务(grade_tasks)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复核改分保留graded_by/graded_at记录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14300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234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📊 成绩统计与可视化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1737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5项分析指标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210312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2E8B8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1031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最高分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33488" y="210312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2E8B8B"/>
          </a:solidFill>
          <a:ln/>
        </p:spPr>
      </p:sp>
      <p:sp>
        <p:nvSpPr>
          <p:cNvPr id="24" name="Text 22"/>
          <p:cNvSpPr/>
          <p:nvPr/>
        </p:nvSpPr>
        <p:spPr>
          <a:xfrm>
            <a:off x="7333488" y="21031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最低分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57616" y="210312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2E8B8B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21031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81744" y="210312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2E8B8B"/>
          </a:solidFill>
          <a:ln/>
        </p:spPr>
      </p:sp>
      <p:sp>
        <p:nvSpPr>
          <p:cNvPr id="28" name="Text 26"/>
          <p:cNvSpPr/>
          <p:nvPr/>
        </p:nvSpPr>
        <p:spPr>
          <a:xfrm>
            <a:off x="9381744" y="21031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及格率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405872" y="210312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2E8B8B"/>
          </a:solidFill>
          <a:ln/>
        </p:spPr>
      </p:sp>
      <p:sp>
        <p:nvSpPr>
          <p:cNvPr id="30" name="Text 28"/>
          <p:cNvSpPr/>
          <p:nvPr/>
        </p:nvSpPr>
        <p:spPr>
          <a:xfrm>
            <a:off x="10405872" y="21031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标准差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5分数段分布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4389120"/>
            <a:ext cx="822960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983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0-59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06640" y="4023360"/>
            <a:ext cx="822960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4983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60-69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412480" y="3474720"/>
            <a:ext cx="822960" cy="146304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7" name="Text 35"/>
          <p:cNvSpPr/>
          <p:nvPr/>
        </p:nvSpPr>
        <p:spPr>
          <a:xfrm>
            <a:off x="8321040" y="4983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70-79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418320" y="3291840"/>
            <a:ext cx="822960" cy="164592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9" name="Text 37"/>
          <p:cNvSpPr/>
          <p:nvPr/>
        </p:nvSpPr>
        <p:spPr>
          <a:xfrm>
            <a:off x="9326880" y="4983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80-89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424160" y="3840480"/>
            <a:ext cx="822960" cy="1097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Text 39"/>
          <p:cNvSpPr/>
          <p:nvPr/>
        </p:nvSpPr>
        <p:spPr>
          <a:xfrm>
            <a:off x="10332720" y="4983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90-100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5349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可视化与导出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09360" y="5669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ECharts柱状图+饼图 · Statistic指标卡片 · Excel成绩单导出 · 错题统计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系统测试与质量验证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11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后端测试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19个套件 · 100%通过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1430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2E8B8B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前端测试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1645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38912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4个套件 · 100%通过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1430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0" y="1645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285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04672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23个套件 · 100%通过率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核心覆盖率（&gt;90%）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auth.js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794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800" y="4251960"/>
            <a:ext cx="2377440" cy="182880"/>
          </a:xfrm>
          <a:prstGeom prst="rect">
            <a:avLst/>
          </a:prstGeom>
          <a:solidFill>
            <a:srgbClr val="D6E4ED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251960"/>
            <a:ext cx="2377440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Shape 22"/>
          <p:cNvSpPr/>
          <p:nvPr/>
        </p:nvSpPr>
        <p:spPr>
          <a:xfrm>
            <a:off x="3383280" y="374904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rbac.js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794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520440" y="4251960"/>
            <a:ext cx="2377440" cy="182880"/>
          </a:xfrm>
          <a:prstGeom prst="rect">
            <a:avLst/>
          </a:prstGeom>
          <a:solidFill>
            <a:srgbClr val="D6E4ED"/>
          </a:solidFill>
          <a:ln/>
        </p:spPr>
      </p:sp>
      <p:sp>
        <p:nvSpPr>
          <p:cNvPr id="28" name="Shape 26"/>
          <p:cNvSpPr/>
          <p:nvPr/>
        </p:nvSpPr>
        <p:spPr>
          <a:xfrm>
            <a:off x="3520440" y="4251960"/>
            <a:ext cx="2377440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374904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User模型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0" y="3794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355080" y="4251960"/>
            <a:ext cx="2377440" cy="182880"/>
          </a:xfrm>
          <a:prstGeom prst="rect">
            <a:avLst/>
          </a:prstGeom>
          <a:solidFill>
            <a:srgbClr val="D6E4ED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5080" y="4251960"/>
            <a:ext cx="2377440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4" name="Shape 32"/>
          <p:cNvSpPr/>
          <p:nvPr/>
        </p:nvSpPr>
        <p:spPr>
          <a:xfrm>
            <a:off x="9052560" y="374904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8972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Question模型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789920" y="3794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89720" y="4251960"/>
            <a:ext cx="2377440" cy="182880"/>
          </a:xfrm>
          <a:prstGeom prst="rect">
            <a:avLst/>
          </a:prstGeom>
          <a:solidFill>
            <a:srgbClr val="D6E4ED"/>
          </a:solidFill>
          <a:ln/>
        </p:spPr>
      </p:sp>
      <p:sp>
        <p:nvSpPr>
          <p:cNvPr id="38" name="Shape 36"/>
          <p:cNvSpPr/>
          <p:nvPr/>
        </p:nvSpPr>
        <p:spPr>
          <a:xfrm>
            <a:off x="9189720" y="4251960"/>
            <a:ext cx="2377440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" y="475488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authService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286000" y="4800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98%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85800" y="5257800"/>
            <a:ext cx="2377440" cy="182880"/>
          </a:xfrm>
          <a:prstGeom prst="rect">
            <a:avLst/>
          </a:prstGeom>
          <a:solidFill>
            <a:srgbClr val="D6E4ED"/>
          </a:solidFill>
          <a:ln/>
        </p:spPr>
      </p:sp>
      <p:sp>
        <p:nvSpPr>
          <p:cNvPr id="43" name="Shape 41"/>
          <p:cNvSpPr/>
          <p:nvPr/>
        </p:nvSpPr>
        <p:spPr>
          <a:xfrm>
            <a:off x="685800" y="5257800"/>
            <a:ext cx="2329891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4" name="Shape 42"/>
          <p:cNvSpPr/>
          <p:nvPr/>
        </p:nvSpPr>
        <p:spPr>
          <a:xfrm>
            <a:off x="3383280" y="475488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questionService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20640" y="4800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96%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520440" y="5257800"/>
            <a:ext cx="2377440" cy="182880"/>
          </a:xfrm>
          <a:prstGeom prst="rect">
            <a:avLst/>
          </a:prstGeom>
          <a:solidFill>
            <a:srgbClr val="D6E4ED"/>
          </a:solidFill>
          <a:ln/>
        </p:spPr>
      </p:sp>
      <p:sp>
        <p:nvSpPr>
          <p:cNvPr id="48" name="Shape 46"/>
          <p:cNvSpPr/>
          <p:nvPr/>
        </p:nvSpPr>
        <p:spPr>
          <a:xfrm>
            <a:off x="3520440" y="5257800"/>
            <a:ext cx="2282342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9" name="Shape 47"/>
          <p:cNvSpPr/>
          <p:nvPr/>
        </p:nvSpPr>
        <p:spPr>
          <a:xfrm>
            <a:off x="6217920" y="475488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paperService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955280" y="4800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90%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6355080" y="5257800"/>
            <a:ext cx="2377440" cy="182880"/>
          </a:xfrm>
          <a:prstGeom prst="rect">
            <a:avLst/>
          </a:prstGeom>
          <a:solidFill>
            <a:srgbClr val="D6E4ED"/>
          </a:solidFill>
          <a:ln/>
        </p:spPr>
      </p:sp>
      <p:sp>
        <p:nvSpPr>
          <p:cNvPr id="53" name="Shape 51"/>
          <p:cNvSpPr/>
          <p:nvPr/>
        </p:nvSpPr>
        <p:spPr>
          <a:xfrm>
            <a:off x="6355080" y="5257800"/>
            <a:ext cx="2139696" cy="18288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54" name="Shape 52"/>
          <p:cNvSpPr/>
          <p:nvPr/>
        </p:nvSpPr>
        <p:spPr>
          <a:xfrm>
            <a:off x="9052560" y="475488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8972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scoreService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789920" y="4800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94%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189720" y="5257800"/>
            <a:ext cx="2377440" cy="182880"/>
          </a:xfrm>
          <a:prstGeom prst="rect">
            <a:avLst/>
          </a:prstGeom>
          <a:solidFill>
            <a:srgbClr val="D6E4ED"/>
          </a:solidFill>
          <a:ln/>
        </p:spPr>
      </p:sp>
      <p:sp>
        <p:nvSpPr>
          <p:cNvPr id="58" name="Shape 56"/>
          <p:cNvSpPr/>
          <p:nvPr/>
        </p:nvSpPr>
        <p:spPr>
          <a:xfrm>
            <a:off x="9189720" y="5257800"/>
            <a:ext cx="2234794" cy="18288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59" name="Shape 57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/>
        </p:spPr>
      </p:sp>
      <p:sp>
        <p:nvSpPr>
          <p:cNvPr id="60" name="Text 58"/>
          <p:cNvSpPr/>
          <p:nvPr/>
        </p:nvSpPr>
        <p:spPr>
          <a:xfrm>
            <a:off x="731520" y="58064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测试结论：功能完整、逻辑正确、异常处理规范，FR-01~FR-07 全部需求 100% 覆盖，达到毕业设计交付标准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系统关键页面演示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12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7FAFC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356616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管理员端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965960"/>
            <a:ext cx="3017520" cy="1645920"/>
          </a:xfrm>
          <a:prstGeom prst="roundRect">
            <a:avLst>
              <a:gd name="adj" fmla="val 2778"/>
            </a:avLst>
          </a:prstGeom>
          <a:solidFill>
            <a:srgbClr val="F0F4F8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 页面截图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用户管理(Table+CRUD)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班级管理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系统配置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14300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7FAFC"/>
          </a:solidFill>
          <a:ln w="25400">
            <a:solidFill>
              <a:srgbClr val="2E8B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143000"/>
            <a:ext cx="3566160" cy="64008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143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教师端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0" y="1965960"/>
            <a:ext cx="3017520" cy="1645920"/>
          </a:xfrm>
          <a:prstGeom prst="roundRect">
            <a:avLst>
              <a:gd name="adj" fmla="val 2778"/>
            </a:avLst>
          </a:prstGeom>
          <a:solidFill>
            <a:srgbClr val="F0F4F8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9659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 页面截图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题库管理(多维筛选)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题目编辑(5题型)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随机组卷规则配置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阅卷中心(手动评分)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5394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成绩统计(图表)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14300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7FAFC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143000"/>
            <a:ext cx="3566160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1143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学生端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321040" y="1965960"/>
            <a:ext cx="3017520" cy="1645920"/>
          </a:xfrm>
          <a:prstGeom prst="roundRect">
            <a:avLst>
              <a:gd name="adj" fmla="val 2778"/>
            </a:avLst>
          </a:prstGeom>
          <a:solidFill>
            <a:srgbClr val="F0F4F8"/>
          </a:solidFill>
          <a:ln w="12700">
            <a:solidFill>
              <a:srgbClr val="D6E4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19659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 页面截图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21040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考试列表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在线答题(答题卡+倒计时)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成绩查询+错题统计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统一交互：Ant Design 组件库保证视觉一致性，响应式适配 PC 与平板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技术亮点与创新点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13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8016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234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多维度随机组卷算法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16002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按题型/知识点/难度/数量规则化抽题，事务保证原子性，题库不足友好提示，支持多规则组合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671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304288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04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🛡️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2585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前端防作弊机制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62432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visibilitychange切屏检测+次数阈值+超限自动交卷，拦截copy/paste/contextmenu，beforeunload离开提示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9125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25400">
            <a:solidFill>
              <a:srgbClr val="2E8B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328416"/>
            <a:ext cx="640080" cy="640080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284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💾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2826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断网续答机制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364845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localStorage本地暂存+定时同步服务端+节流即时同步，网络失败静默重试，断网后答案不丢失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1538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52544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525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54480" y="430682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题型差异化自动阅卷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467258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4种客观题不同比对策略(完全匹配/集合相等/多空去空格)，主观题自动生成阅卷任务，秒级评分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23951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376672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3766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🔧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554480" y="53309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44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全栈工程化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54480" y="56967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前后端分离+四层分层+RESTful契约+统一错误码，285测试用例验证，核心覆盖率&gt;90%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工作总结与未来展望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9050">
            <a:solidFill>
              <a:srgbClr val="D6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14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完成工作总结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需求分析：54功能需求+22非功能需求+45用例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系统设计：五层架构+12张表ER+39个API契约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系统实现：后端46文件+前端41文件，七大模块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系统测试：285用例100%通过，核心覆盖率&gt;90%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全流程闭环：题库→组卷→答题→阅卷→成绩统计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09728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FDF2E9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188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🔧 不足与改进方向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examService N+1查询→批量查询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自动阅卷逐条更新→批量更新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Math.random排序→数据库随机采样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前端Ant Design测试环境完善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337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未来扩展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3657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AI主观题自动评分 · 自适应出题 · 移动端APP · Redis缓存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🏆 技术成果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4892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全栈验证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React+Node.js+MySQL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工程适用性验证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892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工程难点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6160" y="5212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防作弊+断网续答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+随机组卷实现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4892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性能达标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5212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100人并发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响应&lt;2s 可用性&gt;99%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52560" y="4892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质量保障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52560" y="5212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285测试用例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核心覆盖率&gt;90%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457200"/>
            <a:ext cx="2286000" cy="2286000"/>
          </a:xfrm>
          <a:prstGeom prst="ellipse">
            <a:avLst/>
          </a:prstGeom>
          <a:solidFill>
            <a:srgbClr val="2E8B8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4114800"/>
            <a:ext cx="2286000" cy="2286000"/>
          </a:xfrm>
          <a:prstGeom prst="ellipse">
            <a:avLst/>
          </a:prstGeom>
          <a:solidFill>
            <a:srgbClr val="2E8B8B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致　谢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感谢指导教师 [教师姓名] 老师的悉心指导与耐心帮助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779776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感谢毕业设计小组全体成员的协作配合：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163824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需求分析 · 系统设计 · 前后端开发 · 测试验证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9319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感谢学院与系里提供良好的学习与科研环境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431596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感谢家人在学业期间的无私关爱与支持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5084064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感谢评阅本论文与参加答辩的各位专家与老师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恳请各位老师批评指正！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 谢　谢 ——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2026-09-30T17:57:54Z</dcterms:created>
  <dcterms:modified xsi:type="dcterms:W3CDTF">2026-09-30T17:57:54Z</dcterms:modified>
</cp:coreProperties>
</file>